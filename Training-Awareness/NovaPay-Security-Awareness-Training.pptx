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2FD3C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75895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NOVAPAY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1488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Awareness Training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21792" y="2971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FE4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&amp; Social Engineering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397764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09-Training-Awareness  |  Session Reference: Awareness-Plan.md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Security &amp; 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target people, not just systems — and financial platforms like NovaPay are a prime target.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1F2937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65960"/>
            <a:ext cx="3291840" cy="109728"/>
          </a:xfrm>
          <a:prstGeom prst="roundRect">
            <a:avLst/>
          </a:prstGeom>
          <a:solidFill>
            <a:srgbClr val="1524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68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5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77240" y="34747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begin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phishing email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06240" y="196596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1F2937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06240" y="1965960"/>
            <a:ext cx="3291840" cy="109728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2468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5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 in 3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434840" y="34747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firms report 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attack yearly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863840" y="196596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1F2937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863840" y="1965960"/>
            <a:ext cx="3291840" cy="109728"/>
          </a:xfrm>
          <a:prstGeom prst="roundRect">
            <a:avLst/>
          </a:prstGeom>
          <a:solidFill>
            <a:srgbClr val="2FD3C6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0" y="2468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5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&lt;60 sec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092440" y="34747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for 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to click a link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029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figures are illustrative for internal training purposes — align to your latest verified statistics before delivery.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Counts as "Phishing"?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has evolved beyond suspicious emails. Know every channel attackers use.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85800" cy="685800"/>
          </a:xfrm>
          <a:prstGeom prst="ellipse">
            <a:avLst/>
          </a:prstGeom>
          <a:solidFill>
            <a:srgbClr val="CFE4E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794" y="1780794"/>
            <a:ext cx="507492" cy="5074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642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2020824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or targeted emails impersonating banks, vendors, or colleagues to harvest credentials or deliver malware.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685800" cy="685800"/>
          </a:xfrm>
          <a:prstGeom prst="ellipse">
            <a:avLst/>
          </a:prstGeom>
          <a:solidFill>
            <a:srgbClr val="CFE4E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" y="2832354"/>
            <a:ext cx="507492" cy="5074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7157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508760" y="3072384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personalised messages aimed at a specific employee, often referencing real projects, names, or events.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794760"/>
            <a:ext cx="685800" cy="685800"/>
          </a:xfrm>
          <a:prstGeom prst="ellipse">
            <a:avLst/>
          </a:prstGeom>
          <a:solidFill>
            <a:srgbClr val="CFE4E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" y="3883914"/>
            <a:ext cx="507492" cy="5074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767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 (Voice Phishing)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08760" y="4123944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 impersonating IT support, executives, or banks to pressure staff into revealing data or access.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846320"/>
            <a:ext cx="685800" cy="685800"/>
          </a:xfrm>
          <a:prstGeom prst="ellipse">
            <a:avLst/>
          </a:prstGeom>
          <a:solidFill>
            <a:srgbClr val="CFE4E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" y="4935474"/>
            <a:ext cx="507492" cy="5074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48188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 (SMS Phishing)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508760" y="5175504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messages with urgent links — fake delivery notices, MFA prompts, or payment confirmations.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Phishing Email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943600" cy="5120640"/>
          </a:xfrm>
          <a:prstGeom prst="roundRect">
            <a:avLst>
              <a:gd name="adj" fmla="val 1429"/>
            </a:avLst>
          </a:prstGeom>
          <a:solidFill>
            <a:srgbClr val="FAFBFC"/>
          </a:solidFill>
          <a:ln w="12700">
            <a:solidFill>
              <a:srgbClr val="D5DC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5943600" cy="457200"/>
          </a:xfrm>
          <a:prstGeom prst="rect">
            <a:avLst/>
          </a:prstGeom>
          <a:solidFill>
            <a:srgbClr val="EDF1F4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353312"/>
            <a:ext cx="128016" cy="128016"/>
          </a:xfrm>
          <a:prstGeom prst="ellipse">
            <a:avLst/>
          </a:prstGeom>
          <a:solidFill>
            <a:srgbClr val="E0685A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353312"/>
            <a:ext cx="128016" cy="128016"/>
          </a:xfrm>
          <a:prstGeom prst="ellipse">
            <a:avLst/>
          </a:prstGeom>
          <a:solidFill>
            <a:srgbClr val="E8C05A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353312"/>
            <a:ext cx="128016" cy="128016"/>
          </a:xfrm>
          <a:prstGeom prst="ellipse">
            <a:avLst/>
          </a:prstGeom>
          <a:solidFill>
            <a:srgbClr val="6FB87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10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 </a:t>
            </a:r>
            <a:pPr indent="0" marL="0">
              <a:buNone/>
            </a:pPr>
            <a:r>
              <a:rPr lang="en-US" sz="115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NovaPay IT-Support &lt;it-support@novapay-secure.net&gt;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1396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 </a:t>
            </a:r>
            <a:pPr indent="0" marL="0">
              <a:buNone/>
            </a:pPr>
            <a:r>
              <a:rPr lang="en-US" sz="115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you@novapay.com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 </a:t>
            </a:r>
            <a:pPr indent="0" marL="0">
              <a:buNone/>
            </a:pPr>
            <a:r>
              <a:rPr lang="en-US" sz="11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Your account will be suspended in 24 hours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2843784"/>
            <a:ext cx="5486400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80944"/>
            <a:ext cx="5486400" cy="3191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detected unusual sign-in activity on your NovaPay account. To avoid permanent suspension, verify your identity immediately by clicking the secure link below.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Verify My Account Now ]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to act within 24 hours will result in loss of access to your funds.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NovaPay Security Team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66560" y="1188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Flags to Spot</a:t>
            </a:r>
            <a:endParaRPr lang="en-US" sz="1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801368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178040" y="1728216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Lookalike domain: "novapay-secure.net" is not novapay.com</a:t>
            </a:r>
            <a:endParaRPr lang="en-US" sz="12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697480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78040" y="2624328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urgency and threat of loss</a:t>
            </a:r>
            <a:endParaRPr lang="en-US" sz="12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593592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78040" y="352044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 — not addressed by name</a:t>
            </a:r>
            <a:endParaRPr lang="en-US" sz="12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489704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4416552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Call-to-action button hides the real link destination</a:t>
            </a:r>
            <a:endParaRPr lang="en-US" sz="12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5385816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78040" y="5312664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sender for an internal IT message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Email: Social Engineering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exploit trust and helpfulness as much as technology.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1E2F4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114" y="205511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842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Pretexting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Inventing a false scenario (e.g. posing as a vendor or auditor) to extract information.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89320" y="169164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1E2F49"/>
          </a:solidFill>
          <a:ln/>
        </p:spPr>
      </p:sp>
      <p:sp>
        <p:nvSpPr>
          <p:cNvPr id="10" name="Shape 7"/>
          <p:cNvSpPr/>
          <p:nvPr/>
        </p:nvSpPr>
        <p:spPr>
          <a:xfrm>
            <a:off x="6263640" y="19659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794" y="205511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842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Tailgating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263640" y="274320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an authorised employee through a secure door without their own access badge.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1E2F49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4348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452399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4531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Baiting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521208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infected USB drives or offering fake downloads to lure a curious click.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989320" y="416052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1E2F49"/>
          </a:solidFill>
          <a:ln/>
        </p:spPr>
      </p:sp>
      <p:sp>
        <p:nvSpPr>
          <p:cNvPr id="20" name="Shape 15"/>
          <p:cNvSpPr/>
          <p:nvPr/>
        </p:nvSpPr>
        <p:spPr>
          <a:xfrm>
            <a:off x="6263640" y="44348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2794" y="4523994"/>
            <a:ext cx="507492" cy="5074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4531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Pretext Calls (Vishing)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263640" y="521208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IT or HR by phone to pressure a password reset or data disclosure.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Something Looks Suspicious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212080" cy="4937760"/>
          </a:xfrm>
          <a:prstGeom prst="roundRect">
            <a:avLst>
              <a:gd name="adj" fmla="val 1852"/>
            </a:avLst>
          </a:prstGeom>
          <a:solidFill>
            <a:srgbClr val="EEF7F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68680" y="21945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Pause before clicking any link or attachment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81635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Verify the sender’s exact email address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343814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Hover over links to preview the real URL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405993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 via the "Report Phishing" button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468172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Contact IT Security directly to confirm requests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53035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Change your password if you suspect exposure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80760" y="1280160"/>
            <a:ext cx="5212080" cy="4937760"/>
          </a:xfrm>
          <a:prstGeom prst="roundRect">
            <a:avLst>
              <a:gd name="adj" fmla="val 1852"/>
            </a:avLst>
          </a:prstGeom>
          <a:solidFill>
            <a:srgbClr val="FBEE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5544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0372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400800" y="21945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Click links or open attachments from unknown senders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00800" y="281635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Enter credentials on a page reached via email link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00800" y="343814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Share OTPs, passwords, or tokens over phone or chat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00800" y="405993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Approve payments from an unverified request alone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400800" y="468172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Plug in unknown USB drives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00800" y="53035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Assume urgency means the request is legitimate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Report an Incident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reporting limits damage. NovaPay’s process takes under two minutes.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26030" cy="3291840"/>
          </a:xfrm>
          <a:prstGeom prst="roundRect">
            <a:avLst>
              <a:gd name="adj" fmla="val 3620"/>
            </a:avLst>
          </a:prstGeom>
          <a:solidFill>
            <a:srgbClr val="15243B"/>
          </a:solidFill>
          <a:ln/>
        </p:spPr>
      </p:sp>
      <p:sp>
        <p:nvSpPr>
          <p:cNvPr id="5" name="Shape 3"/>
          <p:cNvSpPr/>
          <p:nvPr/>
        </p:nvSpPr>
        <p:spPr>
          <a:xfrm>
            <a:off x="1491615" y="23317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491615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21602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Engage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206883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click, reply, or forward the message.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02102" y="3657600"/>
            <a:ext cx="265176" cy="0"/>
          </a:xfrm>
          <a:prstGeom prst="line">
            <a:avLst/>
          </a:prstGeom>
          <a:noFill/>
          <a:ln w="25400">
            <a:solidFill>
              <a:srgbClr val="C9D3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94710" y="2011680"/>
            <a:ext cx="2526030" cy="3291840"/>
          </a:xfrm>
          <a:prstGeom prst="roundRect">
            <a:avLst>
              <a:gd name="adj" fmla="val 3620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4337685" y="23317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337685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77590" y="3154680"/>
            <a:ext cx="21602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23310" y="3749040"/>
            <a:ext cx="206883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"Report Phishing" button or forward to security@novapay.com.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8172" y="3657600"/>
            <a:ext cx="265176" cy="0"/>
          </a:xfrm>
          <a:prstGeom prst="line">
            <a:avLst/>
          </a:prstGeom>
          <a:noFill/>
          <a:ln w="25400">
            <a:solidFill>
              <a:srgbClr val="C9D3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40780" y="2011680"/>
            <a:ext cx="2526030" cy="3291840"/>
          </a:xfrm>
          <a:prstGeom prst="roundRect">
            <a:avLst>
              <a:gd name="adj" fmla="val 3620"/>
            </a:avLst>
          </a:prstGeom>
          <a:solidFill>
            <a:srgbClr val="15243B"/>
          </a:solidFill>
          <a:ln/>
        </p:spPr>
      </p:sp>
      <p:sp>
        <p:nvSpPr>
          <p:cNvPr id="17" name="Shape 15"/>
          <p:cNvSpPr/>
          <p:nvPr/>
        </p:nvSpPr>
        <p:spPr>
          <a:xfrm>
            <a:off x="7183755" y="23317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183755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23660" y="3154680"/>
            <a:ext cx="21602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IT Security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69380" y="3749040"/>
            <a:ext cx="206883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calls or in-person attempts, contact the Security Desk directly.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794242" y="3657600"/>
            <a:ext cx="265176" cy="0"/>
          </a:xfrm>
          <a:prstGeom prst="line">
            <a:avLst/>
          </a:prstGeom>
          <a:noFill/>
          <a:ln w="25400">
            <a:solidFill>
              <a:srgbClr val="C9D3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86850" y="2011680"/>
            <a:ext cx="2526030" cy="3291840"/>
          </a:xfrm>
          <a:prstGeom prst="roundRect">
            <a:avLst>
              <a:gd name="adj" fmla="val 3620"/>
            </a:avLst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29825" y="23317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029825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269730" y="3154680"/>
            <a:ext cx="21602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Confirmation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315450" y="3749040"/>
            <a:ext cx="206883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Security triages and confirms next steps within 1 business day.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5577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security@novapay.com   |   Security Desk: ext. 4357 (HELP)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Knowledge Check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as a group before moving 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719072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an email from "IT-Support" asking you to confirm your password via a link. What do you do first?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907792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caller claims to be from your bank’s fraud team and asks you to read back a one-time code. Is this safe?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4096512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find a USB drive labelled "Payroll 2026" in the car park. What is the correct action?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CFE4ED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41848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80160" y="548640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5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note: answers are covered on the previous three slides — Do’s &amp; Don’ts and the Reporting Process.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166360" y="777240"/>
            <a:ext cx="1097280" cy="10972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06" y="919886"/>
            <a:ext cx="811987" cy="8119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48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Alert. Verify First.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371600" y="28803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F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— even a false alarm — helps keep NovaPay and its customers safe.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09160" y="3657600"/>
            <a:ext cx="27432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023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activity:  </a:t>
            </a:r>
            <a:pPr algn="ctr" indent="0" marL="0">
              <a:buNone/>
            </a:pPr>
            <a:r>
              <a:rPr lang="en-US" sz="1400" dirty="0">
                <a:solidFill>
                  <a:srgbClr val="2F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security@novapay.com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Desk:  </a:t>
            </a:r>
            <a:pPr algn="ctr" indent="0" marL="0">
              <a:buNone/>
            </a:pPr>
            <a:r>
              <a:rPr lang="en-US" sz="1400" dirty="0">
                <a:solidFill>
                  <a:srgbClr val="2F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ext. 4357 (HELP)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NovaPay IT Security &amp; Compliance  —  09-Training-Awareness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2026-08-09T22:55:02Z</dcterms:created>
  <dcterms:modified xsi:type="dcterms:W3CDTF">2026-08-09T22:55:02Z</dcterms:modified>
</cp:coreProperties>
</file>